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61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Около 20 секунди. „Направихме GPU Share – сайт, в който хората наемат свободните часове на чужда видеокарта.“ Чертите са идеята: всяка е час от денонощието, а високите са часовете, когато много видеокарти са свободни. Темата: енергията около нас.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Около 30 секунди. Двете страни: собственици с неизползвана видеокарта и наематели, които нямат пари да си купят. Добавете енергията: по-добре е да използваме видеокарта, която вече съществува, отколкото да се произвежда нова.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Около 40 секунди. Така отговаряме на темата. Първо: най-доброто спестяване е да не се прави нова видеокарта. Второ: наемателят вижда kWh преди да плати. Трето: всеки нает час е спестен час за собственика, а началната страница показва общата сума. Формулата е проста нарочно: мощност във ватове по часове, делено на 1000. Пример: RTX 4090, 450 W за 3 часа = 1,35 kWh.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Около 1 минута и половина, тук се бавим повече. Проблемът с AnyDesk: той споделя целия компютър, наемателят трудно се ограничава, връзката не се прекъсва сама, когато времето изтече, а паролата е в чужда програма. Затова идеята е собствена малка програма, която собственикът инсталира. Тя дава на наемателя достъп само до видеокартата, в изолирана среда, и сама го спира в края на времето. Като бонус мери реалната консумация на видеокартата, така че спестената енергия е точна. Кажете честно, че още не е направена.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Около 1 минута. Програмата се сваля от страницата Host a GPU. Първо разпознава видеокартата (модел, памет, мощност), така че собственикът не може да обяви нещо, което няма. Второ, мери реалната консумация на видеокартата през целия наем и я праща като kWh, затова панелът Saved energy става точен. Трето, налага ограничения: наемателят работи в изолирана среда, която вижда само видеокартата. Четвърто, следи времето: стартира в началото на резервацията и спира в края, а собственикът винаги може да я спре.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Около 1 минута. Пет стъпки. Собственикът сваля програмата. Тя разпознава видеокартата и се свързва със сървъра ни. Когато някой резервира, сървърът ѝ праща задача. Програмата стартира изолирана среда, например контейнер с Docker, която вижда само видеокартата. В края на времето я спира и праща колко kWh са използвани. Така собственикът не дава парола за компютъра си, а наемателят не вижда файловете 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Около 1 минута. Нашият основен въпрос е как да не се използва видеокартата за копаене на криптовалути. Само по kWh не става, защото копаенето и обучението на AI ползват видеокартата еднакво. Затова защитата е на нива. Най-силното е мрежата: средата достига само позволен списък, а копаенето има нужда от връзка с пул. Второ, пускат се само позволени програми. Трето, наемателят не е анонимен. Честно: пълна гаранция няма, но първите две нива правят копаенето практически безполезно. Програмата не получава достъп до базата директно, а говори със сървъра ни, иначе всеки собственик би могъл да чете и променя базата. Връзката на наемателя минава през сайта, затова собственикът не отваря портове на рутера си.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Около 40 секунди. Накратко останалото. Базата данни: сега е файл на нашия компютър, затова за истински потребители ѝ трябва общ сървър в облака. Плащането: сега е симулирано, трябва истински платежен доставчик, който пази парите до края на наема. Програмата за собственици: описана на предишните слайдове. Още: безопасен вход с токени вместо прототипния, отмяна на резервации, страница с приходи за собствениците и спестената енергия като CO2.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2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4800" dirty="0">
                <a:solidFill>
                  <a:srgbClr val="0E2B22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4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39344"/>
            <a:ext cx="10566400" cy="430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E2B2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4800" dirty="0">
                <a:solidFill>
                  <a:srgbClr val="0E2B22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4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39344"/>
            <a:ext cx="10566400" cy="430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E2B2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652905"/>
            <a:ext cx="10883392" cy="159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350"/>
              </a:lnSpc>
              <a:buNone/>
            </a:pPr>
            <a:r>
              <a:rPr lang="en-US" sz="13000" b="1" i="0" dirty="0">
                <a:solidFill>
                  <a:srgbClr val="F2F4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GPU SHARE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812800" y="3373755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dirty="0">
                <a:solidFill>
                  <a:srgbClr val="C9F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Наеми свободно GPU на час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12800" y="5994400"/>
            <a:ext cx="304800" cy="50800"/>
          </a:xfrm>
          <a:prstGeom prst="roundRect">
            <a:avLst>
              <a:gd name="adj" fmla="val 50000"/>
            </a:avLst>
          </a:prstGeom>
          <a:solidFill>
            <a:srgbClr val="1F4A3A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7" name="Shape 5"/>
          <p:cNvSpPr/>
          <p:nvPr/>
        </p:nvSpPr>
        <p:spPr>
          <a:xfrm>
            <a:off x="1258967" y="5994400"/>
            <a:ext cx="304800" cy="50800"/>
          </a:xfrm>
          <a:prstGeom prst="roundRect">
            <a:avLst>
              <a:gd name="adj" fmla="val 50000"/>
            </a:avLst>
          </a:prstGeom>
          <a:solidFill>
            <a:srgbClr val="1F4A3A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8" name="Shape 6"/>
          <p:cNvSpPr/>
          <p:nvPr/>
        </p:nvSpPr>
        <p:spPr>
          <a:xfrm>
            <a:off x="1705134" y="5994400"/>
            <a:ext cx="304800" cy="50800"/>
          </a:xfrm>
          <a:prstGeom prst="roundRect">
            <a:avLst>
              <a:gd name="adj" fmla="val 50000"/>
            </a:avLst>
          </a:prstGeom>
          <a:solidFill>
            <a:srgbClr val="1F4A3A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9" name="Shape 7"/>
          <p:cNvSpPr/>
          <p:nvPr/>
        </p:nvSpPr>
        <p:spPr>
          <a:xfrm>
            <a:off x="2151301" y="5994400"/>
            <a:ext cx="304800" cy="50800"/>
          </a:xfrm>
          <a:prstGeom prst="roundRect">
            <a:avLst>
              <a:gd name="adj" fmla="val 50000"/>
            </a:avLst>
          </a:prstGeom>
          <a:solidFill>
            <a:srgbClr val="1F4A3A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0" name="Shape 8"/>
          <p:cNvSpPr/>
          <p:nvPr/>
        </p:nvSpPr>
        <p:spPr>
          <a:xfrm>
            <a:off x="2597388" y="5994400"/>
            <a:ext cx="304800" cy="50800"/>
          </a:xfrm>
          <a:prstGeom prst="roundRect">
            <a:avLst>
              <a:gd name="adj" fmla="val 50000"/>
            </a:avLst>
          </a:prstGeom>
          <a:solidFill>
            <a:srgbClr val="1F4A3A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1" name="Shape 9"/>
          <p:cNvSpPr/>
          <p:nvPr/>
        </p:nvSpPr>
        <p:spPr>
          <a:xfrm>
            <a:off x="3043555" y="5994400"/>
            <a:ext cx="304800" cy="50800"/>
          </a:xfrm>
          <a:prstGeom prst="roundRect">
            <a:avLst>
              <a:gd name="adj" fmla="val 50000"/>
            </a:avLst>
          </a:prstGeom>
          <a:solidFill>
            <a:srgbClr val="1F4A3A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2" name="Shape 10"/>
          <p:cNvSpPr/>
          <p:nvPr/>
        </p:nvSpPr>
        <p:spPr>
          <a:xfrm>
            <a:off x="3489722" y="5994400"/>
            <a:ext cx="304800" cy="50800"/>
          </a:xfrm>
          <a:prstGeom prst="roundRect">
            <a:avLst>
              <a:gd name="adj" fmla="val 50000"/>
            </a:avLst>
          </a:prstGeom>
          <a:solidFill>
            <a:srgbClr val="1F4A3A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3" name="Shape 11"/>
          <p:cNvSpPr/>
          <p:nvPr/>
        </p:nvSpPr>
        <p:spPr>
          <a:xfrm>
            <a:off x="3935889" y="5892800"/>
            <a:ext cx="304800" cy="152400"/>
          </a:xfrm>
          <a:prstGeom prst="roundRect">
            <a:avLst>
              <a:gd name="adj" fmla="val 25000"/>
            </a:avLst>
          </a:prstGeom>
          <a:solidFill>
            <a:srgbClr val="C9F24D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4" name="Shape 12"/>
          <p:cNvSpPr/>
          <p:nvPr/>
        </p:nvSpPr>
        <p:spPr>
          <a:xfrm>
            <a:off x="4382056" y="5689600"/>
            <a:ext cx="304800" cy="355600"/>
          </a:xfrm>
          <a:prstGeom prst="roundRect">
            <a:avLst>
              <a:gd name="adj" fmla="val 12500"/>
            </a:avLst>
          </a:prstGeom>
          <a:solidFill>
            <a:srgbClr val="C9F24D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5" name="Shape 13"/>
          <p:cNvSpPr/>
          <p:nvPr/>
        </p:nvSpPr>
        <p:spPr>
          <a:xfrm>
            <a:off x="4828223" y="5537200"/>
            <a:ext cx="304800" cy="508000"/>
          </a:xfrm>
          <a:prstGeom prst="roundRect">
            <a:avLst>
              <a:gd name="adj" fmla="val 12500"/>
            </a:avLst>
          </a:prstGeom>
          <a:solidFill>
            <a:srgbClr val="C9F24D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6" name="Shape 14"/>
          <p:cNvSpPr/>
          <p:nvPr/>
        </p:nvSpPr>
        <p:spPr>
          <a:xfrm>
            <a:off x="5274389" y="5435600"/>
            <a:ext cx="304800" cy="609600"/>
          </a:xfrm>
          <a:prstGeom prst="roundRect">
            <a:avLst>
              <a:gd name="adj" fmla="val 12500"/>
            </a:avLst>
          </a:prstGeom>
          <a:solidFill>
            <a:srgbClr val="C9F24D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7" name="Shape 15"/>
          <p:cNvSpPr/>
          <p:nvPr/>
        </p:nvSpPr>
        <p:spPr>
          <a:xfrm>
            <a:off x="5720556" y="5435600"/>
            <a:ext cx="304800" cy="609600"/>
          </a:xfrm>
          <a:prstGeom prst="roundRect">
            <a:avLst>
              <a:gd name="adj" fmla="val 12500"/>
            </a:avLst>
          </a:prstGeom>
          <a:solidFill>
            <a:srgbClr val="C9F24D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8" name="Shape 16"/>
          <p:cNvSpPr/>
          <p:nvPr/>
        </p:nvSpPr>
        <p:spPr>
          <a:xfrm>
            <a:off x="6166644" y="5334000"/>
            <a:ext cx="304800" cy="711200"/>
          </a:xfrm>
          <a:prstGeom prst="roundRect">
            <a:avLst>
              <a:gd name="adj" fmla="val 12500"/>
            </a:avLst>
          </a:prstGeom>
          <a:solidFill>
            <a:srgbClr val="C9F24D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9" name="Shape 17"/>
          <p:cNvSpPr/>
          <p:nvPr/>
        </p:nvSpPr>
        <p:spPr>
          <a:xfrm>
            <a:off x="6612811" y="5334000"/>
            <a:ext cx="304800" cy="711200"/>
          </a:xfrm>
          <a:prstGeom prst="roundRect">
            <a:avLst>
              <a:gd name="adj" fmla="val 12500"/>
            </a:avLst>
          </a:prstGeom>
          <a:solidFill>
            <a:srgbClr val="C9F24D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20" name="Shape 18"/>
          <p:cNvSpPr/>
          <p:nvPr/>
        </p:nvSpPr>
        <p:spPr>
          <a:xfrm>
            <a:off x="7058978" y="5334000"/>
            <a:ext cx="304800" cy="711200"/>
          </a:xfrm>
          <a:prstGeom prst="roundRect">
            <a:avLst>
              <a:gd name="adj" fmla="val 12500"/>
            </a:avLst>
          </a:prstGeom>
          <a:solidFill>
            <a:srgbClr val="C9F24D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21" name="Shape 19"/>
          <p:cNvSpPr/>
          <p:nvPr/>
        </p:nvSpPr>
        <p:spPr>
          <a:xfrm>
            <a:off x="7505144" y="5334000"/>
            <a:ext cx="304800" cy="711200"/>
          </a:xfrm>
          <a:prstGeom prst="roundRect">
            <a:avLst>
              <a:gd name="adj" fmla="val 12500"/>
            </a:avLst>
          </a:prstGeom>
          <a:solidFill>
            <a:srgbClr val="C9F24D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22" name="Shape 20"/>
          <p:cNvSpPr/>
          <p:nvPr/>
        </p:nvSpPr>
        <p:spPr>
          <a:xfrm>
            <a:off x="7951312" y="5334000"/>
            <a:ext cx="304800" cy="711200"/>
          </a:xfrm>
          <a:prstGeom prst="roundRect">
            <a:avLst>
              <a:gd name="adj" fmla="val 12500"/>
            </a:avLst>
          </a:prstGeom>
          <a:solidFill>
            <a:srgbClr val="C9F24D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23" name="Shape 21"/>
          <p:cNvSpPr/>
          <p:nvPr/>
        </p:nvSpPr>
        <p:spPr>
          <a:xfrm>
            <a:off x="8397478" y="5181600"/>
            <a:ext cx="304800" cy="863600"/>
          </a:xfrm>
          <a:prstGeom prst="roundRect">
            <a:avLst>
              <a:gd name="adj" fmla="val 12500"/>
            </a:avLst>
          </a:prstGeom>
          <a:solidFill>
            <a:srgbClr val="C9F24D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24" name="Shape 22"/>
          <p:cNvSpPr/>
          <p:nvPr/>
        </p:nvSpPr>
        <p:spPr>
          <a:xfrm>
            <a:off x="8843645" y="4775200"/>
            <a:ext cx="304800" cy="1270000"/>
          </a:xfrm>
          <a:prstGeom prst="roundRect">
            <a:avLst>
              <a:gd name="adj" fmla="val 12500"/>
            </a:avLst>
          </a:prstGeom>
          <a:solidFill>
            <a:srgbClr val="C9F24D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25" name="Shape 23"/>
          <p:cNvSpPr/>
          <p:nvPr/>
        </p:nvSpPr>
        <p:spPr>
          <a:xfrm>
            <a:off x="9289812" y="4775200"/>
            <a:ext cx="304800" cy="1270000"/>
          </a:xfrm>
          <a:prstGeom prst="roundRect">
            <a:avLst>
              <a:gd name="adj" fmla="val 12500"/>
            </a:avLst>
          </a:prstGeom>
          <a:solidFill>
            <a:srgbClr val="C9F24D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26" name="Shape 24"/>
          <p:cNvSpPr/>
          <p:nvPr/>
        </p:nvSpPr>
        <p:spPr>
          <a:xfrm>
            <a:off x="9735900" y="4775200"/>
            <a:ext cx="304800" cy="1270000"/>
          </a:xfrm>
          <a:prstGeom prst="roundRect">
            <a:avLst>
              <a:gd name="adj" fmla="val 12500"/>
            </a:avLst>
          </a:prstGeom>
          <a:solidFill>
            <a:srgbClr val="F2A900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27" name="Shape 25"/>
          <p:cNvSpPr/>
          <p:nvPr/>
        </p:nvSpPr>
        <p:spPr>
          <a:xfrm>
            <a:off x="10182066" y="4978400"/>
            <a:ext cx="304800" cy="1066800"/>
          </a:xfrm>
          <a:prstGeom prst="roundRect">
            <a:avLst>
              <a:gd name="adj" fmla="val 12500"/>
            </a:avLst>
          </a:prstGeom>
          <a:solidFill>
            <a:srgbClr val="C9F24D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28" name="Shape 26"/>
          <p:cNvSpPr/>
          <p:nvPr/>
        </p:nvSpPr>
        <p:spPr>
          <a:xfrm>
            <a:off x="10628233" y="5232400"/>
            <a:ext cx="304800" cy="812800"/>
          </a:xfrm>
          <a:prstGeom prst="roundRect">
            <a:avLst>
              <a:gd name="adj" fmla="val 12500"/>
            </a:avLst>
          </a:prstGeom>
          <a:solidFill>
            <a:srgbClr val="C9F24D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29" name="Shape 27"/>
          <p:cNvSpPr/>
          <p:nvPr/>
        </p:nvSpPr>
        <p:spPr>
          <a:xfrm>
            <a:off x="11074400" y="5435600"/>
            <a:ext cx="304800" cy="609600"/>
          </a:xfrm>
          <a:prstGeom prst="roundRect">
            <a:avLst>
              <a:gd name="adj" fmla="val 12500"/>
            </a:avLst>
          </a:prstGeom>
          <a:solidFill>
            <a:srgbClr val="C9F24D"/>
          </a:solidFill>
          <a:ln/>
        </p:spPr>
        <p:txBody>
          <a:bodyPr/>
          <a:lstStyle/>
          <a:p>
            <a:endParaRPr lang="bg-B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157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20"/>
              </a:lnSpc>
              <a:buNone/>
            </a:pPr>
            <a:r>
              <a:rPr lang="en-US" sz="6000" b="1" i="0" dirty="0">
                <a:solidFill>
                  <a:srgbClr val="0E2B2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Много видеокарти стоят неизползвани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815975" y="2794635"/>
            <a:ext cx="5175250" cy="2459990"/>
          </a:xfrm>
          <a:prstGeom prst="roundRect">
            <a:avLst>
              <a:gd name="adj" fmla="val 4001"/>
            </a:avLst>
          </a:prstGeom>
          <a:solidFill>
            <a:srgbClr val="FAFBF8"/>
          </a:solidFill>
          <a:ln w="6350">
            <a:solidFill>
              <a:srgbClr val="D5DCD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4" name="Text 2"/>
          <p:cNvSpPr/>
          <p:nvPr/>
        </p:nvSpPr>
        <p:spPr>
          <a:xfrm>
            <a:off x="1097280" y="3075940"/>
            <a:ext cx="4751019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0B6B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Собственици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3652520"/>
            <a:ext cx="47510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Мощната видеокарта почива през по-голямата част от деня.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00775" y="2794635"/>
            <a:ext cx="5175250" cy="2459990"/>
          </a:xfrm>
          <a:prstGeom prst="roundRect">
            <a:avLst>
              <a:gd name="adj" fmla="val 4001"/>
            </a:avLst>
          </a:prstGeom>
          <a:solidFill>
            <a:srgbClr val="FAFBF8"/>
          </a:solidFill>
          <a:ln w="6350">
            <a:solidFill>
              <a:srgbClr val="D5DCD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7" name="Text 5"/>
          <p:cNvSpPr/>
          <p:nvPr/>
        </p:nvSpPr>
        <p:spPr>
          <a:xfrm>
            <a:off x="6482080" y="3075940"/>
            <a:ext cx="4751019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0B6B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Наематели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82080" y="3652520"/>
            <a:ext cx="4751019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Студенти и разработчици имат нужда от GPU за изкуствен интелект, но не могат да си го купят.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2800" y="5681980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0B6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GPU Share ги свързва: наемане на час.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647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96"/>
              </a:lnSpc>
              <a:buNone/>
            </a:pPr>
            <a:r>
              <a:rPr lang="en-US" sz="4800" b="1" i="0" dirty="0">
                <a:solidFill>
                  <a:srgbClr val="F2F4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Отговорът ни на „Енергията около нас“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55472" y="3103880"/>
            <a:ext cx="452805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1328" indent="-211328" algn="l">
              <a:lnSpc>
                <a:spcPts val="2660"/>
              </a:lnSpc>
              <a:buSzPct val="100000"/>
              <a:buChar char="•"/>
            </a:pPr>
            <a:r>
              <a:rPr lang="en-US" sz="1900" dirty="0">
                <a:solidFill>
                  <a:srgbClr val="F2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Използваме видеокарти, които вече съществуват</a:t>
            </a:r>
            <a:endParaRPr lang="en-US" sz="1900" dirty="0"/>
          </a:p>
          <a:p>
            <a:pPr marL="211328" indent="-211328" algn="l">
              <a:lnSpc>
                <a:spcPts val="2660"/>
              </a:lnSpc>
              <a:buSzPct val="100000"/>
              <a:buChar char="•"/>
            </a:pPr>
            <a:r>
              <a:rPr lang="en-US" sz="1900" dirty="0">
                <a:solidFill>
                  <a:srgbClr val="F2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Енергията се вижда преди плащане</a:t>
            </a:r>
            <a:endParaRPr lang="en-US" sz="1900" dirty="0"/>
          </a:p>
          <a:p>
            <a:pPr marL="211328" indent="-211328" algn="l">
              <a:lnSpc>
                <a:spcPts val="2660"/>
              </a:lnSpc>
              <a:buSzPct val="100000"/>
              <a:buChar char="•"/>
            </a:pPr>
            <a:r>
              <a:rPr lang="en-US" sz="1900" dirty="0">
                <a:solidFill>
                  <a:srgbClr val="F2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Всеки нает час е спестен час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12800" y="4996180"/>
            <a:ext cx="457835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C9F24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Вата x часове / 1000 = kWh</a:t>
            </a:r>
            <a:endParaRPr lang="en-US" sz="3200" dirty="0"/>
          </a:p>
        </p:txBody>
      </p:sp>
      <p:pic>
        <p:nvPicPr>
          <p:cNvPr id="5" name="Image 0" descr="Панелът Saved energy на началната страница със спестени часове и kWh"/>
          <p:cNvPicPr>
            <a:picLocks noChangeAspect="1"/>
          </p:cNvPicPr>
          <p:nvPr/>
        </p:nvPicPr>
        <p:blipFill>
          <a:blip r:embed="rId3"/>
          <a:srcRect l="-71" r="-71"/>
          <a:stretch/>
        </p:blipFill>
        <p:spPr>
          <a:xfrm>
            <a:off x="5670550" y="2914650"/>
            <a:ext cx="5702300" cy="3124200"/>
          </a:xfrm>
          <a:prstGeom prst="roundRect">
            <a:avLst>
              <a:gd name="adj" fmla="val 3049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5667375" y="2911475"/>
            <a:ext cx="5708650" cy="3130550"/>
          </a:xfrm>
          <a:prstGeom prst="roundRect">
            <a:avLst>
              <a:gd name="adj" fmla="val 3144"/>
            </a:avLst>
          </a:prstGeom>
          <a:noFill/>
          <a:ln w="6350">
            <a:solidFill>
              <a:srgbClr val="2A5A47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1268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96"/>
              </a:lnSpc>
              <a:buNone/>
            </a:pPr>
            <a:r>
              <a:rPr lang="en-US" sz="4800" b="1" i="0" dirty="0">
                <a:solidFill>
                  <a:srgbClr val="0E2B2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Следваща стъпка: собствена програма вместо AnyDesk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815975" y="2715975"/>
            <a:ext cx="5175250" cy="2355850"/>
          </a:xfrm>
          <a:prstGeom prst="roundRect">
            <a:avLst>
              <a:gd name="adj" fmla="val 4178"/>
            </a:avLst>
          </a:prstGeom>
          <a:solidFill>
            <a:srgbClr val="FAFBF8"/>
          </a:solidFill>
          <a:ln w="6350">
            <a:solidFill>
              <a:srgbClr val="D5DCD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4" name="Text 2"/>
          <p:cNvSpPr/>
          <p:nvPr/>
        </p:nvSpPr>
        <p:spPr>
          <a:xfrm>
            <a:off x="1097280" y="2997279"/>
            <a:ext cx="475101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B6B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AnyDesk днес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54176" y="3581479"/>
            <a:ext cx="468650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7104" indent="-1971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Показва целия компютър</a:t>
            </a:r>
            <a:endParaRPr lang="en-US" sz="1700" dirty="0"/>
          </a:p>
          <a:p>
            <a:pPr marL="197104" indent="-1971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Наемателят трудно се ограничава</a:t>
            </a:r>
            <a:endParaRPr lang="en-US" sz="1700" dirty="0"/>
          </a:p>
          <a:p>
            <a:pPr marL="197104" indent="-1971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прекъсва сам в края на времето</a:t>
            </a:r>
            <a:endParaRPr lang="en-US" sz="1700" dirty="0"/>
          </a:p>
          <a:p>
            <a:pPr marL="197104" indent="-1971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Паролата е в чужда програма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00775" y="2715975"/>
            <a:ext cx="5175250" cy="2355850"/>
          </a:xfrm>
          <a:prstGeom prst="roundRect">
            <a:avLst>
              <a:gd name="adj" fmla="val 4178"/>
            </a:avLst>
          </a:prstGeom>
          <a:solidFill>
            <a:srgbClr val="0E2B22"/>
          </a:solidFill>
          <a:ln w="6350">
            <a:solidFill>
              <a:srgbClr val="0E2B2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7" name="Text 5"/>
          <p:cNvSpPr/>
          <p:nvPr/>
        </p:nvSpPr>
        <p:spPr>
          <a:xfrm>
            <a:off x="6482080" y="2997279"/>
            <a:ext cx="475101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C9F24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Нашата програма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38976" y="3581479"/>
            <a:ext cx="468650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7104" indent="-1971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F2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Достъп само до видеокартата</a:t>
            </a:r>
            <a:endParaRPr lang="en-US" sz="1700" dirty="0"/>
          </a:p>
          <a:p>
            <a:pPr marL="197104" indent="-1971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F2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Изолирана среда за всеки наем</a:t>
            </a:r>
            <a:endParaRPr lang="en-US" sz="1700" dirty="0"/>
          </a:p>
          <a:p>
            <a:pPr marL="197104" indent="-1971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F2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Спира сама в края на времето</a:t>
            </a:r>
            <a:endParaRPr lang="en-US" sz="1700" dirty="0"/>
          </a:p>
          <a:p>
            <a:pPr marL="197104" indent="-1971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F2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Мери реалната консумация на енергия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647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96"/>
              </a:lnSpc>
              <a:buNone/>
            </a:pPr>
            <a:r>
              <a:rPr lang="en-US" sz="4800" b="1" i="0" dirty="0">
                <a:solidFill>
                  <a:srgbClr val="0E2B2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Какво прави програмата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815975" y="1812686"/>
            <a:ext cx="5175250" cy="1673860"/>
          </a:xfrm>
          <a:prstGeom prst="roundRect">
            <a:avLst>
              <a:gd name="adj" fmla="val 5880"/>
            </a:avLst>
          </a:prstGeom>
          <a:solidFill>
            <a:srgbClr val="FAFBF8"/>
          </a:solidFill>
          <a:ln w="6350">
            <a:solidFill>
              <a:srgbClr val="D5DCD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4" name="Text 2"/>
          <p:cNvSpPr/>
          <p:nvPr/>
        </p:nvSpPr>
        <p:spPr>
          <a:xfrm>
            <a:off x="1097280" y="2093993"/>
            <a:ext cx="475101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B6B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Разпознава видеокартата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2622311"/>
            <a:ext cx="4751019" cy="608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Модел, памет и мощност. Обявата се попълва сама.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00775" y="1812686"/>
            <a:ext cx="5175250" cy="1673860"/>
          </a:xfrm>
          <a:prstGeom prst="roundRect">
            <a:avLst>
              <a:gd name="adj" fmla="val 5880"/>
            </a:avLst>
          </a:prstGeom>
          <a:solidFill>
            <a:srgbClr val="FAFBF8"/>
          </a:solidFill>
          <a:ln w="6350">
            <a:solidFill>
              <a:srgbClr val="D5DCD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7" name="Text 5"/>
          <p:cNvSpPr/>
          <p:nvPr/>
        </p:nvSpPr>
        <p:spPr>
          <a:xfrm>
            <a:off x="6482080" y="2093993"/>
            <a:ext cx="475101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B6B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Мери енергията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82080" y="2622311"/>
            <a:ext cx="4751019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Реалната консумация в kWh, не формула.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5975" y="3696097"/>
            <a:ext cx="5175250" cy="1673860"/>
          </a:xfrm>
          <a:prstGeom prst="roundRect">
            <a:avLst>
              <a:gd name="adj" fmla="val 5880"/>
            </a:avLst>
          </a:prstGeom>
          <a:solidFill>
            <a:srgbClr val="FAFBF8"/>
          </a:solidFill>
          <a:ln w="6350">
            <a:solidFill>
              <a:srgbClr val="D5DCD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0" name="Text 8"/>
          <p:cNvSpPr/>
          <p:nvPr/>
        </p:nvSpPr>
        <p:spPr>
          <a:xfrm>
            <a:off x="1097280" y="3977404"/>
            <a:ext cx="475101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B6B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Налага ограничения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97280" y="4505722"/>
            <a:ext cx="4751019" cy="608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Изолирана среда само с GPU, без достъп до файловете.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00775" y="3696097"/>
            <a:ext cx="5175250" cy="1673860"/>
          </a:xfrm>
          <a:prstGeom prst="roundRect">
            <a:avLst>
              <a:gd name="adj" fmla="val 5880"/>
            </a:avLst>
          </a:prstGeom>
          <a:solidFill>
            <a:srgbClr val="FAFBF8"/>
          </a:solidFill>
          <a:ln w="6350">
            <a:solidFill>
              <a:srgbClr val="D5DCD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3" name="Text 11"/>
          <p:cNvSpPr/>
          <p:nvPr/>
        </p:nvSpPr>
        <p:spPr>
          <a:xfrm>
            <a:off x="6482080" y="3977404"/>
            <a:ext cx="475101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B6B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Следи времето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82080" y="4505722"/>
            <a:ext cx="4751019" cy="608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Стартира в началото, спира в </a:t>
            </a:r>
            <a:r>
              <a:rPr lang="en-US" sz="1700" dirty="0" err="1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края</a:t>
            </a: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2800" y="5748021"/>
            <a:ext cx="10883392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B6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Сваля се от сайта и е свързана с него.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43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23"/>
              </a:lnSpc>
              <a:buNone/>
            </a:pPr>
            <a:r>
              <a:rPr lang="en-US" sz="4043" b="1" i="0" dirty="0">
                <a:solidFill>
                  <a:srgbClr val="0E2B2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Как ще работи</a:t>
            </a:r>
            <a:endParaRPr lang="en-US" sz="4043" dirty="0"/>
          </a:p>
        </p:txBody>
      </p:sp>
      <p:sp>
        <p:nvSpPr>
          <p:cNvPr id="3" name="Shape 1"/>
          <p:cNvSpPr/>
          <p:nvPr/>
        </p:nvSpPr>
        <p:spPr>
          <a:xfrm>
            <a:off x="815975" y="1536939"/>
            <a:ext cx="10560050" cy="720090"/>
          </a:xfrm>
          <a:prstGeom prst="roundRect">
            <a:avLst>
              <a:gd name="adj" fmla="val 13668"/>
            </a:avLst>
          </a:prstGeom>
          <a:solidFill>
            <a:srgbClr val="FAFBF8"/>
          </a:solidFill>
          <a:ln w="6350">
            <a:solidFill>
              <a:srgbClr val="D5DCD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4" name="Text 2"/>
          <p:cNvSpPr/>
          <p:nvPr/>
        </p:nvSpPr>
        <p:spPr>
          <a:xfrm>
            <a:off x="1071880" y="1612503"/>
            <a:ext cx="40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B6B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30680" y="1748393"/>
            <a:ext cx="7349395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0E2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Собственикът сваля и инсталира програмата от сайта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5975" y="2364978"/>
            <a:ext cx="10560050" cy="720011"/>
          </a:xfrm>
          <a:prstGeom prst="roundRect">
            <a:avLst>
              <a:gd name="adj" fmla="val 13670"/>
            </a:avLst>
          </a:prstGeom>
          <a:solidFill>
            <a:srgbClr val="FAFBF8"/>
          </a:solidFill>
          <a:ln w="6350">
            <a:solidFill>
              <a:srgbClr val="D5DCD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7" name="Text 5"/>
          <p:cNvSpPr/>
          <p:nvPr/>
        </p:nvSpPr>
        <p:spPr>
          <a:xfrm>
            <a:off x="1071880" y="2440543"/>
            <a:ext cx="40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B6B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630680" y="2576354"/>
            <a:ext cx="9186006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0E2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Програмата разпознава видеокартата и се свързва със сървъра ни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5975" y="3192940"/>
            <a:ext cx="10560050" cy="720011"/>
          </a:xfrm>
          <a:prstGeom prst="roundRect">
            <a:avLst>
              <a:gd name="adj" fmla="val 13670"/>
            </a:avLst>
          </a:prstGeom>
          <a:solidFill>
            <a:srgbClr val="FAFBF8"/>
          </a:solidFill>
          <a:ln w="6350">
            <a:solidFill>
              <a:srgbClr val="D5DCD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0" name="Text 8"/>
          <p:cNvSpPr/>
          <p:nvPr/>
        </p:nvSpPr>
        <p:spPr>
          <a:xfrm>
            <a:off x="1071880" y="3268504"/>
            <a:ext cx="40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B6B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30680" y="3404316"/>
            <a:ext cx="5754053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0E2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резервация сървърът ѝ праща задача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5975" y="4020899"/>
            <a:ext cx="10560050" cy="720011"/>
          </a:xfrm>
          <a:prstGeom prst="roundRect">
            <a:avLst>
              <a:gd name="adj" fmla="val 13670"/>
            </a:avLst>
          </a:prstGeom>
          <a:solidFill>
            <a:srgbClr val="FAFBF8"/>
          </a:solidFill>
          <a:ln w="6350">
            <a:solidFill>
              <a:srgbClr val="D5DCD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3" name="Text 11"/>
          <p:cNvSpPr/>
          <p:nvPr/>
        </p:nvSpPr>
        <p:spPr>
          <a:xfrm>
            <a:off x="1071880" y="4096466"/>
            <a:ext cx="40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B6B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630680" y="4232275"/>
            <a:ext cx="8417815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0E2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Програмата стартира изолирана среда само с достъп до GPU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5975" y="4848861"/>
            <a:ext cx="10560050" cy="720011"/>
          </a:xfrm>
          <a:prstGeom prst="roundRect">
            <a:avLst>
              <a:gd name="adj" fmla="val 13670"/>
            </a:avLst>
          </a:prstGeom>
          <a:solidFill>
            <a:srgbClr val="FAFBF8"/>
          </a:solidFill>
          <a:ln w="6350">
            <a:solidFill>
              <a:srgbClr val="D5DCD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6" name="Text 14"/>
          <p:cNvSpPr/>
          <p:nvPr/>
        </p:nvSpPr>
        <p:spPr>
          <a:xfrm>
            <a:off x="1071880" y="4924425"/>
            <a:ext cx="40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B6B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630680" y="5060237"/>
            <a:ext cx="7131844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0E2B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края на времето я спира и праща измерените kWh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2800" y="5775247"/>
            <a:ext cx="10883392" cy="29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2"/>
              </a:lnSpc>
              <a:buNone/>
            </a:pPr>
            <a:r>
              <a:rPr lang="en-US" sz="1671" b="1" dirty="0">
                <a:solidFill>
                  <a:srgbClr val="0B6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Наемателят получава само GPU, само за платеното време.</a:t>
            </a:r>
            <a:endParaRPr lang="en-US" sz="167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647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96"/>
              </a:lnSpc>
              <a:buNone/>
            </a:pPr>
            <a:r>
              <a:rPr lang="en-US" sz="4800" b="1" i="0" dirty="0">
                <a:solidFill>
                  <a:srgbClr val="0E2B2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Защита от злоупотреба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815975" y="1822531"/>
            <a:ext cx="3380264" cy="2548255"/>
          </a:xfrm>
          <a:prstGeom prst="roundRect">
            <a:avLst>
              <a:gd name="adj" fmla="val 3862"/>
            </a:avLst>
          </a:prstGeom>
          <a:solidFill>
            <a:srgbClr val="FAFBF8"/>
          </a:solidFill>
          <a:ln w="6350">
            <a:solidFill>
              <a:srgbClr val="D5DCD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4" name="Text 2"/>
          <p:cNvSpPr/>
          <p:nvPr/>
        </p:nvSpPr>
        <p:spPr>
          <a:xfrm>
            <a:off x="1097280" y="2103834"/>
            <a:ext cx="290218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B6B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Затворена мрежа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2632156"/>
            <a:ext cx="2902183" cy="1482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Средата достига само </a:t>
            </a:r>
            <a:r>
              <a:rPr lang="en-US" sz="1700" dirty="0" err="1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позволени</a:t>
            </a: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 err="1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сайтове</a:t>
            </a: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r>
              <a:rPr lang="bg-BG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Действия като к</a:t>
            </a:r>
            <a:r>
              <a:rPr lang="en-US" sz="1700" dirty="0" err="1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опаенето</a:t>
            </a: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 err="1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има</a:t>
            </a:r>
            <a:r>
              <a:rPr lang="bg-BG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</a:t>
            </a: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нужда от пул и не работи.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05789" y="1822531"/>
            <a:ext cx="3380343" cy="2548255"/>
          </a:xfrm>
          <a:prstGeom prst="roundRect">
            <a:avLst>
              <a:gd name="adj" fmla="val 3862"/>
            </a:avLst>
          </a:prstGeom>
          <a:solidFill>
            <a:srgbClr val="FAFBF8"/>
          </a:solidFill>
          <a:ln w="6350">
            <a:solidFill>
              <a:srgbClr val="D5DCD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7" name="Text 5"/>
          <p:cNvSpPr/>
          <p:nvPr/>
        </p:nvSpPr>
        <p:spPr>
          <a:xfrm>
            <a:off x="4687094" y="2103834"/>
            <a:ext cx="2902265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B6B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Само позволени програми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687094" y="3058874"/>
            <a:ext cx="2902265" cy="899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Наемателят </a:t>
            </a:r>
            <a:r>
              <a:rPr lang="en-US" sz="1700" dirty="0" err="1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пуска</a:t>
            </a: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bg-BG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само позволени </a:t>
            </a:r>
            <a:r>
              <a:rPr lang="bg-BG" sz="1700" dirty="0" err="1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проиграми</a:t>
            </a:r>
            <a:r>
              <a:rPr lang="bg-BG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а</a:t>
            </a: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не каквото и да е.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995682" y="1822531"/>
            <a:ext cx="3380343" cy="2548255"/>
          </a:xfrm>
          <a:prstGeom prst="roundRect">
            <a:avLst>
              <a:gd name="adj" fmla="val 3862"/>
            </a:avLst>
          </a:prstGeom>
          <a:solidFill>
            <a:srgbClr val="FAFBF8"/>
          </a:solidFill>
          <a:ln w="6350">
            <a:solidFill>
              <a:srgbClr val="D5DCD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0" name="Text 8"/>
          <p:cNvSpPr/>
          <p:nvPr/>
        </p:nvSpPr>
        <p:spPr>
          <a:xfrm>
            <a:off x="8276987" y="2103834"/>
            <a:ext cx="290226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B6B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Не е анонимно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76987" y="2632156"/>
            <a:ext cx="2902265" cy="899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Нужен е профил и плащане за всяка резервация.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9696" y="4758689"/>
            <a:ext cx="10818876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7104" indent="-197104" algn="l">
              <a:lnSpc>
                <a:spcPts val="2380"/>
              </a:lnSpc>
              <a:buSzPct val="100000"/>
              <a:buChar char="•"/>
            </a:pPr>
            <a:r>
              <a:rPr lang="en-US" sz="1700" dirty="0" err="1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Връзката</a:t>
            </a: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на наемателя минава през сайта: собственикът не отваря портове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647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96"/>
              </a:lnSpc>
              <a:buNone/>
            </a:pPr>
            <a:r>
              <a:rPr lang="en-US" sz="4800" b="1" i="0" dirty="0">
                <a:solidFill>
                  <a:srgbClr val="0E2B2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Още бъдещи подобрения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815975" y="1901825"/>
            <a:ext cx="5175250" cy="1965325"/>
          </a:xfrm>
          <a:prstGeom prst="roundRect">
            <a:avLst>
              <a:gd name="adj" fmla="val 5008"/>
            </a:avLst>
          </a:prstGeom>
          <a:solidFill>
            <a:srgbClr val="FAFBF8"/>
          </a:solidFill>
          <a:ln w="6350">
            <a:solidFill>
              <a:srgbClr val="D5DCD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4" name="Text 2"/>
          <p:cNvSpPr/>
          <p:nvPr/>
        </p:nvSpPr>
        <p:spPr>
          <a:xfrm>
            <a:off x="1097280" y="2183132"/>
            <a:ext cx="475101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B6B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Облачна база данни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2711450"/>
            <a:ext cx="4751019" cy="899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bg-BG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</a:t>
            </a:r>
            <a:r>
              <a:rPr lang="en-US" sz="1700" dirty="0" err="1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дин</a:t>
            </a: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общ сървър и база, на които всички виждат едни и същи данни.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00775" y="1901825"/>
            <a:ext cx="5175250" cy="1965325"/>
          </a:xfrm>
          <a:prstGeom prst="roundRect">
            <a:avLst>
              <a:gd name="adj" fmla="val 5008"/>
            </a:avLst>
          </a:prstGeom>
          <a:solidFill>
            <a:srgbClr val="FAFBF8"/>
          </a:solidFill>
          <a:ln w="6350">
            <a:solidFill>
              <a:srgbClr val="D5DCD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7" name="Text 5"/>
          <p:cNvSpPr/>
          <p:nvPr/>
        </p:nvSpPr>
        <p:spPr>
          <a:xfrm>
            <a:off x="6482080" y="2183132"/>
            <a:ext cx="475101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B6B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Истински плащания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82080" y="2711450"/>
            <a:ext cx="4751019" cy="899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Платежен доставчик. Парите се пазят до края на наема и се изплащат на собственика.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5975" y="4076700"/>
            <a:ext cx="5175250" cy="1965325"/>
          </a:xfrm>
          <a:prstGeom prst="roundRect">
            <a:avLst>
              <a:gd name="adj" fmla="val 5008"/>
            </a:avLst>
          </a:prstGeom>
          <a:solidFill>
            <a:srgbClr val="FAFBF8"/>
          </a:solidFill>
          <a:ln w="6350">
            <a:solidFill>
              <a:srgbClr val="D5DCD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0" name="Text 8"/>
          <p:cNvSpPr/>
          <p:nvPr/>
        </p:nvSpPr>
        <p:spPr>
          <a:xfrm>
            <a:off x="1097280" y="4358004"/>
            <a:ext cx="475101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B6B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Програмата за собственици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97280" y="4886325"/>
            <a:ext cx="4751019" cy="608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Разпознава GPU, мери kWh, ограничава достъпа и времето.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00775" y="4076700"/>
            <a:ext cx="5175250" cy="1965325"/>
          </a:xfrm>
          <a:prstGeom prst="roundRect">
            <a:avLst>
              <a:gd name="adj" fmla="val 5008"/>
            </a:avLst>
          </a:prstGeom>
          <a:solidFill>
            <a:srgbClr val="FAFBF8"/>
          </a:solidFill>
          <a:ln w="6350">
            <a:solidFill>
              <a:srgbClr val="D5DCD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3" name="Text 11"/>
          <p:cNvSpPr/>
          <p:nvPr/>
        </p:nvSpPr>
        <p:spPr>
          <a:xfrm>
            <a:off x="6482080" y="4358004"/>
            <a:ext cx="475101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B6B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Още функции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82080" y="4886325"/>
            <a:ext cx="4751019" cy="899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Безопасен вход с токени, отмяна на резервации, приходи </a:t>
            </a:r>
            <a:r>
              <a:rPr lang="en-US" sz="1700" dirty="0" err="1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</a:t>
            </a:r>
            <a:r>
              <a:rPr lang="en-US" sz="1700" dirty="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 err="1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собствениците</a:t>
            </a:r>
            <a:r>
              <a:rPr lang="bg-BG" sz="1700">
                <a:solidFill>
                  <a:srgbClr val="2F44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PU Share – презентация">
  <a:themeElements>
    <a:clrScheme name="GPU Share – презентация">
      <a:dk1>
        <a:srgbClr val="0E2B22"/>
      </a:dk1>
      <a:lt1>
        <a:srgbClr val="F2F4EF"/>
      </a:lt1>
      <a:dk2>
        <a:srgbClr val="475D55"/>
      </a:dk2>
      <a:lt2>
        <a:srgbClr val="DBE0DB"/>
      </a:lt2>
      <a:accent1>
        <a:srgbClr val="0B6B3A"/>
      </a:accent1>
      <a:accent2>
        <a:srgbClr val="C9F24D"/>
      </a:accent2>
      <a:accent3>
        <a:srgbClr val="1F4A3A"/>
      </a:accent3>
      <a:accent4>
        <a:srgbClr val="F2A900"/>
      </a:accent4>
      <a:accent5>
        <a:srgbClr val="2F443A"/>
      </a:accent5>
      <a:accent6>
        <a:srgbClr val="A9C2B4"/>
      </a:accent6>
      <a:hlink>
        <a:srgbClr val="0563C1"/>
      </a:hlink>
      <a:folHlink>
        <a:srgbClr val="954F72"/>
      </a:folHlink>
    </a:clrScheme>
    <a:fontScheme name="GPU Share – презентация">
      <a:majorFont>
        <a:latin typeface="Oswa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1036</Words>
  <Application>Microsoft Office PowerPoint</Application>
  <PresentationFormat>Widescreen</PresentationFormat>
  <Paragraphs>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Inter</vt:lpstr>
      <vt:lpstr>Oswald</vt:lpstr>
      <vt:lpstr>GPU Share – презентация</vt:lpstr>
      <vt:lpstr>GPU SHARE</vt:lpstr>
      <vt:lpstr>Много видеокарти стоят неизползвани</vt:lpstr>
      <vt:lpstr>Отговорът ни на „Енергията около нас“</vt:lpstr>
      <vt:lpstr>Следваща стъпка: собствена програма вместо AnyDesk</vt:lpstr>
      <vt:lpstr>Какво прави програмата</vt:lpstr>
      <vt:lpstr>Как ще работи</vt:lpstr>
      <vt:lpstr>Защита от злоупотреба</vt:lpstr>
      <vt:lpstr>Още бъдещи подобрения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 Share – презентация</dc:title>
  <dc:subject/>
  <dc:creator/>
  <cp:lastModifiedBy>Ivan Yanev</cp:lastModifiedBy>
  <cp:revision>2</cp:revision>
  <dcterms:created xsi:type="dcterms:W3CDTF">2026-10-04T08:32:25Z</dcterms:created>
  <dcterms:modified xsi:type="dcterms:W3CDTF">2026-10-04T08:44:36Z</dcterms:modified>
</cp:coreProperties>
</file>